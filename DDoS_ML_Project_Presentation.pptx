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53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4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68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18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4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916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7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6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8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85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551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4032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44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41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90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33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2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68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390" y="640257"/>
            <a:ext cx="7746258" cy="1108928"/>
          </a:xfrm>
        </p:spPr>
        <p:txBody>
          <a:bodyPr>
            <a:noAutofit/>
          </a:bodyPr>
          <a:lstStyle/>
          <a:p>
            <a:r>
              <a:rPr sz="4400" dirty="0"/>
              <a:t>Flow-Based DDoS Detection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250" y="2556789"/>
            <a:ext cx="7429499" cy="2656286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Internship Project Presentation</a:t>
            </a:r>
          </a:p>
          <a:p>
            <a:pPr algn="ctr"/>
            <a:r>
              <a:rPr sz="2800" dirty="0"/>
              <a:t>Cybersecurity – </a:t>
            </a:r>
            <a:r>
              <a:rPr lang="en-IN" sz="2800" dirty="0"/>
              <a:t>Classifying Network Traffic Flow</a:t>
            </a:r>
            <a:endParaRPr sz="2800" dirty="0"/>
          </a:p>
          <a:p>
            <a:pPr algn="ctr"/>
            <a:r>
              <a:rPr sz="2800" dirty="0"/>
              <a:t>By: </a:t>
            </a:r>
            <a:r>
              <a:rPr sz="2800" dirty="0" err="1"/>
              <a:t>Mohd</a:t>
            </a:r>
            <a:r>
              <a:rPr sz="2800" dirty="0"/>
              <a:t> Zayd </a:t>
            </a:r>
            <a:r>
              <a:rPr sz="2800" dirty="0" err="1"/>
              <a:t>Quadri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0022" y="864653"/>
            <a:ext cx="7429499" cy="1108928"/>
          </a:xfrm>
        </p:spPr>
        <p:txBody>
          <a:bodyPr>
            <a:normAutofit/>
          </a:bodyPr>
          <a:lstStyle/>
          <a:p>
            <a:r>
              <a:rPr sz="405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233" y="2440005"/>
            <a:ext cx="7429499" cy="2656286"/>
          </a:xfrm>
        </p:spPr>
        <p:txBody>
          <a:bodyPr>
            <a:normAutofit/>
          </a:bodyPr>
          <a:lstStyle/>
          <a:p>
            <a:r>
              <a:rPr sz="2400" dirty="0"/>
              <a:t>Modern networks face frequent DDoS attacks.</a:t>
            </a:r>
          </a:p>
          <a:p>
            <a:r>
              <a:rPr sz="2400" dirty="0"/>
              <a:t>Manual detection is inefficient.</a:t>
            </a:r>
          </a:p>
          <a:p>
            <a:r>
              <a:rPr sz="2400" dirty="0"/>
              <a:t>Need an automated ML-based intrusion detection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8877" y="379048"/>
            <a:ext cx="7429499" cy="1108928"/>
          </a:xfrm>
        </p:spPr>
        <p:txBody>
          <a:bodyPr>
            <a:normAutofit/>
          </a:bodyPr>
          <a:lstStyle/>
          <a:p>
            <a:r>
              <a:rPr sz="4800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4356" y="1891679"/>
            <a:ext cx="7429499" cy="3541714"/>
          </a:xfrm>
        </p:spPr>
        <p:txBody>
          <a:bodyPr>
            <a:normAutofit/>
          </a:bodyPr>
          <a:lstStyle/>
          <a:p>
            <a:r>
              <a:rPr sz="2800" dirty="0"/>
              <a:t>Classify network traffic as BENIGN or DDoS.</a:t>
            </a:r>
          </a:p>
          <a:p>
            <a:r>
              <a:rPr sz="2800" dirty="0"/>
              <a:t>Build robust ML models.</a:t>
            </a:r>
          </a:p>
          <a:p>
            <a:r>
              <a:rPr sz="2800" dirty="0"/>
              <a:t>Reduce false positives.</a:t>
            </a:r>
          </a:p>
          <a:p>
            <a:r>
              <a:rPr sz="2800" dirty="0"/>
              <a:t>Support security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312" y="181197"/>
            <a:ext cx="7429499" cy="1478570"/>
          </a:xfrm>
        </p:spPr>
        <p:txBody>
          <a:bodyPr>
            <a:normAutofit/>
          </a:bodyPr>
          <a:lstStyle/>
          <a:p>
            <a:r>
              <a:rPr sz="4800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869" y="1931435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Source: </a:t>
            </a:r>
            <a:r>
              <a:rPr lang="en-IN" sz="3200" dirty="0"/>
              <a:t>First Quadrant Labs</a:t>
            </a:r>
            <a:endParaRPr sz="3200" dirty="0"/>
          </a:p>
          <a:p>
            <a:r>
              <a:rPr sz="3200" dirty="0"/>
              <a:t>Rows: ~200,000</a:t>
            </a:r>
          </a:p>
          <a:p>
            <a:r>
              <a:rPr sz="3200" dirty="0"/>
              <a:t>Features: 78 flow-based attributes</a:t>
            </a:r>
          </a:p>
          <a:p>
            <a:r>
              <a:rPr sz="3200" dirty="0"/>
              <a:t>Target: BENIGN / DDoS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4501" y="327514"/>
            <a:ext cx="7429499" cy="1478570"/>
          </a:xfrm>
        </p:spPr>
        <p:txBody>
          <a:bodyPr>
            <a:normAutofit/>
          </a:bodyPr>
          <a:lstStyle/>
          <a:p>
            <a:r>
              <a:rPr sz="4800" dirty="0"/>
              <a:t>Data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631" y="2107028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Moderate class imbalance.</a:t>
            </a:r>
          </a:p>
          <a:p>
            <a:r>
              <a:rPr sz="3200" dirty="0"/>
              <a:t>Highly skewed feature distributions.</a:t>
            </a:r>
          </a:p>
          <a:p>
            <a:r>
              <a:rPr sz="3200" dirty="0"/>
              <a:t>Redundant &amp; correlated features.</a:t>
            </a:r>
          </a:p>
          <a:p>
            <a:r>
              <a:rPr sz="3200" dirty="0"/>
              <a:t>Presence of infinite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530" y="327514"/>
            <a:ext cx="7429499" cy="1478570"/>
          </a:xfrm>
        </p:spPr>
        <p:txBody>
          <a:bodyPr>
            <a:normAutofit/>
          </a:bodyPr>
          <a:lstStyle/>
          <a:p>
            <a:r>
              <a:rPr sz="4800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2529" y="1981131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Handled missing &amp; infinite values.</a:t>
            </a:r>
          </a:p>
          <a:p>
            <a:r>
              <a:rPr sz="3200" dirty="0"/>
              <a:t>Type casting to numerical.</a:t>
            </a:r>
          </a:p>
          <a:p>
            <a:r>
              <a:rPr sz="3200" dirty="0"/>
              <a:t>Stratified train-test split.</a:t>
            </a:r>
          </a:p>
          <a:p>
            <a:r>
              <a:rPr sz="3200" dirty="0"/>
              <a:t>Feature scaling where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27514"/>
            <a:ext cx="8715323" cy="1478570"/>
          </a:xfrm>
        </p:spPr>
        <p:txBody>
          <a:bodyPr>
            <a:normAutofit/>
          </a:bodyPr>
          <a:lstStyle/>
          <a:p>
            <a:r>
              <a:rPr sz="4800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5147" y="2130217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Analyzed flow duration, packet sizes, activity times.</a:t>
            </a:r>
          </a:p>
          <a:p>
            <a:r>
              <a:rPr sz="3200" dirty="0"/>
              <a:t>Observed strong overlap in individual features.</a:t>
            </a:r>
          </a:p>
          <a:p>
            <a:r>
              <a:rPr sz="3200" dirty="0"/>
              <a:t>Confirmed need for ensemble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2468" y="240831"/>
            <a:ext cx="7429499" cy="1478570"/>
          </a:xfrm>
        </p:spPr>
        <p:txBody>
          <a:bodyPr>
            <a:normAutofit/>
          </a:bodyPr>
          <a:lstStyle/>
          <a:p>
            <a:r>
              <a:rPr sz="5400" dirty="0"/>
              <a:t>Feature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468" y="2229612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Correlation analysis.</a:t>
            </a:r>
          </a:p>
          <a:p>
            <a:r>
              <a:rPr sz="3200" dirty="0"/>
              <a:t>Random Forest feature importance.</a:t>
            </a:r>
          </a:p>
          <a:p>
            <a:r>
              <a:rPr sz="3200" dirty="0"/>
              <a:t>Final reduced feature set selected.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1252" y="-20356"/>
            <a:ext cx="7429499" cy="1478570"/>
          </a:xfrm>
        </p:spPr>
        <p:txBody>
          <a:bodyPr>
            <a:normAutofit/>
          </a:bodyPr>
          <a:lstStyle/>
          <a:p>
            <a:r>
              <a:rPr sz="5400" dirty="0"/>
              <a:t>Selected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8086" y="1544354"/>
            <a:ext cx="7429499" cy="5860298"/>
          </a:xfrm>
        </p:spPr>
        <p:txBody>
          <a:bodyPr>
            <a:noAutofit/>
          </a:bodyPr>
          <a:lstStyle/>
          <a:p>
            <a:r>
              <a:rPr sz="2800" dirty="0" err="1"/>
              <a:t>Fwd</a:t>
            </a:r>
            <a:r>
              <a:rPr sz="2800" dirty="0"/>
              <a:t> Packet Length Max</a:t>
            </a:r>
          </a:p>
          <a:p>
            <a:r>
              <a:rPr sz="2800" dirty="0" err="1"/>
              <a:t>Subflow</a:t>
            </a:r>
            <a:r>
              <a:rPr sz="2800" dirty="0"/>
              <a:t> </a:t>
            </a:r>
            <a:r>
              <a:rPr sz="2800" dirty="0" err="1"/>
              <a:t>Fwd</a:t>
            </a:r>
            <a:r>
              <a:rPr sz="2800" dirty="0"/>
              <a:t> Bytes</a:t>
            </a:r>
          </a:p>
          <a:p>
            <a:r>
              <a:rPr sz="2800" dirty="0" err="1"/>
              <a:t>Init_Win_bytes_forward</a:t>
            </a:r>
            <a:endParaRPr sz="2800" dirty="0"/>
          </a:p>
          <a:p>
            <a:r>
              <a:rPr sz="2800" dirty="0" err="1"/>
              <a:t>Fwd</a:t>
            </a:r>
            <a:r>
              <a:rPr sz="2800" dirty="0"/>
              <a:t> IAT Std</a:t>
            </a:r>
          </a:p>
          <a:p>
            <a:r>
              <a:rPr sz="2800" dirty="0"/>
              <a:t>Destination Port</a:t>
            </a:r>
          </a:p>
          <a:p>
            <a:r>
              <a:rPr sz="2800" dirty="0" err="1"/>
              <a:t>Subflow</a:t>
            </a:r>
            <a:r>
              <a:rPr sz="2800" dirty="0"/>
              <a:t> </a:t>
            </a:r>
            <a:r>
              <a:rPr sz="2800" dirty="0" err="1"/>
              <a:t>Fwd</a:t>
            </a:r>
            <a:r>
              <a:rPr sz="2800" dirty="0"/>
              <a:t> Packets</a:t>
            </a:r>
          </a:p>
          <a:p>
            <a:r>
              <a:rPr sz="2800" dirty="0" err="1"/>
              <a:t>Fwd</a:t>
            </a:r>
            <a:r>
              <a:rPr sz="2800" dirty="0"/>
              <a:t> IAT Max</a:t>
            </a:r>
          </a:p>
          <a:p>
            <a:r>
              <a:rPr sz="2800" dirty="0" err="1"/>
              <a:t>Bwd</a:t>
            </a:r>
            <a:r>
              <a:rPr sz="2800" dirty="0"/>
              <a:t> Packet Length 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3808" y="327514"/>
            <a:ext cx="7429499" cy="1478570"/>
          </a:xfrm>
        </p:spPr>
        <p:txBody>
          <a:bodyPr>
            <a:normAutofit/>
          </a:bodyPr>
          <a:lstStyle/>
          <a:p>
            <a:r>
              <a:rPr sz="5400" dirty="0"/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2347" y="2040766"/>
            <a:ext cx="7429499" cy="3541714"/>
          </a:xfrm>
        </p:spPr>
        <p:txBody>
          <a:bodyPr>
            <a:normAutofit/>
          </a:bodyPr>
          <a:lstStyle/>
          <a:p>
            <a:r>
              <a:rPr sz="3600" dirty="0"/>
              <a:t>Baseline: Logistic Regression</a:t>
            </a:r>
          </a:p>
          <a:p>
            <a:r>
              <a:rPr sz="3600" dirty="0"/>
              <a:t>Ensemble: Random Forest</a:t>
            </a:r>
          </a:p>
          <a:p>
            <a:r>
              <a:rPr sz="3600" dirty="0"/>
              <a:t>Margin-based: SVM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3869" y="19810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6808" y="1573626"/>
            <a:ext cx="3984297" cy="4588703"/>
          </a:xfrm>
        </p:spPr>
        <p:txBody>
          <a:bodyPr>
            <a:normAutofit/>
          </a:bodyPr>
          <a:lstStyle/>
          <a:p>
            <a:r>
              <a:rPr sz="3200" dirty="0"/>
              <a:t>Accuracy</a:t>
            </a:r>
          </a:p>
          <a:p>
            <a:r>
              <a:rPr sz="3200" dirty="0"/>
              <a:t>Precision</a:t>
            </a:r>
          </a:p>
          <a:p>
            <a:r>
              <a:rPr sz="3200" dirty="0"/>
              <a:t>Recall</a:t>
            </a:r>
          </a:p>
          <a:p>
            <a:r>
              <a:rPr sz="3200" dirty="0"/>
              <a:t>F1-Score</a:t>
            </a:r>
          </a:p>
          <a:p>
            <a:r>
              <a:rPr sz="3200" dirty="0"/>
              <a:t>ROC-AUC</a:t>
            </a:r>
          </a:p>
          <a:p>
            <a:r>
              <a:rPr sz="3200" dirty="0"/>
              <a:t>Precision-Recall Curve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220953"/>
            <a:ext cx="8019583" cy="1478570"/>
          </a:xfrm>
        </p:spPr>
        <p:txBody>
          <a:bodyPr>
            <a:normAutofit/>
          </a:bodyPr>
          <a:lstStyle/>
          <a:p>
            <a:r>
              <a:rPr sz="4400" dirty="0"/>
              <a:t>Logistic Regression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1738" y="2249487"/>
            <a:ext cx="7429499" cy="3541714"/>
          </a:xfrm>
        </p:spPr>
        <p:txBody>
          <a:bodyPr>
            <a:normAutofit/>
          </a:bodyPr>
          <a:lstStyle/>
          <a:p>
            <a:r>
              <a:rPr sz="3600" dirty="0"/>
              <a:t>Strong baseline performance.</a:t>
            </a:r>
          </a:p>
          <a:p>
            <a:r>
              <a:rPr sz="3600" dirty="0"/>
              <a:t>Mild underfitting observed.</a:t>
            </a:r>
          </a:p>
          <a:p>
            <a:r>
              <a:rPr sz="3600" dirty="0"/>
              <a:t>Used for comparison.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4599" y="250770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Random Forest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2895" y="2249487"/>
            <a:ext cx="7429499" cy="3541714"/>
          </a:xfrm>
        </p:spPr>
        <p:txBody>
          <a:bodyPr/>
          <a:lstStyle/>
          <a:p>
            <a:r>
              <a:rPr sz="3600" dirty="0"/>
              <a:t>Near-perfect classification.</a:t>
            </a:r>
          </a:p>
          <a:p>
            <a:r>
              <a:rPr sz="3600" dirty="0"/>
              <a:t>Strong feature separability.</a:t>
            </a:r>
          </a:p>
          <a:p>
            <a:r>
              <a:rPr sz="3600" dirty="0"/>
              <a:t>Best performing model.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782" y="327514"/>
            <a:ext cx="7429499" cy="1478570"/>
          </a:xfrm>
        </p:spPr>
        <p:txBody>
          <a:bodyPr>
            <a:normAutofit/>
          </a:bodyPr>
          <a:lstStyle/>
          <a:p>
            <a:r>
              <a:rPr sz="4800" dirty="0"/>
              <a:t>SVM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2773" y="2408513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High accuracy and recall.</a:t>
            </a:r>
          </a:p>
          <a:p>
            <a:r>
              <a:rPr sz="3200" dirty="0"/>
              <a:t>Confirms robustness of feature space.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999" y="327514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851" y="2160035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5-Fold Stratified CV.</a:t>
            </a:r>
          </a:p>
          <a:p>
            <a:r>
              <a:rPr sz="3200" dirty="0"/>
              <a:t>Mean F1 ≈ 0.9998.</a:t>
            </a:r>
          </a:p>
          <a:p>
            <a:r>
              <a:rPr sz="3200" dirty="0"/>
              <a:t>Very low variance.</a:t>
            </a:r>
          </a:p>
          <a:p>
            <a:r>
              <a:rPr sz="3200" dirty="0"/>
              <a:t>Stable generalization.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825" y="220884"/>
            <a:ext cx="8168670" cy="1478570"/>
          </a:xfrm>
        </p:spPr>
        <p:txBody>
          <a:bodyPr>
            <a:normAutofit/>
          </a:bodyPr>
          <a:lstStyle/>
          <a:p>
            <a:r>
              <a:rPr sz="4400" dirty="0"/>
              <a:t>Leakage &amp; Overfitting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3868" y="2249487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Feature importance distribution.</a:t>
            </a:r>
          </a:p>
          <a:p>
            <a:r>
              <a:rPr sz="3200" dirty="0"/>
              <a:t>Feature ablation test.</a:t>
            </a:r>
          </a:p>
          <a:p>
            <a:r>
              <a:rPr sz="3200" dirty="0"/>
              <a:t>No single dominant feature.</a:t>
            </a:r>
          </a:p>
          <a:p>
            <a:r>
              <a:rPr sz="3200" dirty="0"/>
              <a:t>No critical leakage detected.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416" y="327514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ROC &amp; PR Curve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1556" y="2249487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ROC-AUC close to 1.</a:t>
            </a:r>
          </a:p>
          <a:p>
            <a:r>
              <a:rPr sz="3200" dirty="0"/>
              <a:t>High precision across recall.</a:t>
            </a:r>
          </a:p>
          <a:p>
            <a:r>
              <a:rPr sz="3200" dirty="0"/>
              <a:t>Operationally reliable detection.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719" y="-10416"/>
            <a:ext cx="7429499" cy="1478570"/>
          </a:xfrm>
        </p:spPr>
        <p:txBody>
          <a:bodyPr>
            <a:normAutofit/>
          </a:bodyPr>
          <a:lstStyle/>
          <a:p>
            <a:r>
              <a:rPr sz="4000" dirty="0"/>
              <a:t>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7250" y="1562505"/>
            <a:ext cx="7429499" cy="3541714"/>
          </a:xfrm>
        </p:spPr>
        <p:txBody>
          <a:bodyPr>
            <a:normAutofit/>
          </a:bodyPr>
          <a:lstStyle/>
          <a:p>
            <a:pPr algn="ctr"/>
            <a:r>
              <a:rPr sz="2800" dirty="0"/>
              <a:t>Flow-Based DDoS Detection Pipeline</a:t>
            </a:r>
          </a:p>
          <a:p>
            <a:pPr algn="ctr"/>
            <a:r>
              <a:rPr sz="2800" dirty="0"/>
              <a:t>(Network → Features → ML → Output)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C8BDC3-318B-4F30-9CDA-83E33310B330}"/>
              </a:ext>
            </a:extLst>
          </p:cNvPr>
          <p:cNvSpPr/>
          <p:nvPr/>
        </p:nvSpPr>
        <p:spPr>
          <a:xfrm>
            <a:off x="1234393" y="3048871"/>
            <a:ext cx="1659835" cy="82494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Network Traffic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9D60BF-35EA-4073-ACD7-05A5A4C23DE8}"/>
              </a:ext>
            </a:extLst>
          </p:cNvPr>
          <p:cNvSpPr/>
          <p:nvPr/>
        </p:nvSpPr>
        <p:spPr>
          <a:xfrm>
            <a:off x="3889976" y="3059101"/>
            <a:ext cx="1659835" cy="82494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Flow Feature Extraction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0E8FD9-E1F4-4C2E-98FE-CF0B990502C2}"/>
              </a:ext>
            </a:extLst>
          </p:cNvPr>
          <p:cNvSpPr/>
          <p:nvPr/>
        </p:nvSpPr>
        <p:spPr>
          <a:xfrm>
            <a:off x="6565118" y="3059101"/>
            <a:ext cx="1659835" cy="82494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Preprocessing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AC46C38-6F89-4163-B846-735BFAF69064}"/>
              </a:ext>
            </a:extLst>
          </p:cNvPr>
          <p:cNvSpPr/>
          <p:nvPr/>
        </p:nvSpPr>
        <p:spPr>
          <a:xfrm>
            <a:off x="6514501" y="4273700"/>
            <a:ext cx="1659835" cy="82494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Feature Engineering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9B2132-7816-40BB-8DD7-25E2797FE449}"/>
              </a:ext>
            </a:extLst>
          </p:cNvPr>
          <p:cNvSpPr/>
          <p:nvPr/>
        </p:nvSpPr>
        <p:spPr>
          <a:xfrm>
            <a:off x="3889976" y="4267965"/>
            <a:ext cx="1659835" cy="82494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Machine Learning Models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8B07EE-BC40-4413-9A57-F215F43DE52F}"/>
              </a:ext>
            </a:extLst>
          </p:cNvPr>
          <p:cNvSpPr/>
          <p:nvPr/>
        </p:nvSpPr>
        <p:spPr>
          <a:xfrm>
            <a:off x="1368918" y="4200813"/>
            <a:ext cx="1659835" cy="824948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Traffic Classification Output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F51E2434-AB1E-4D29-8FF1-31C6B473254E}"/>
              </a:ext>
            </a:extLst>
          </p:cNvPr>
          <p:cNvSpPr/>
          <p:nvPr/>
        </p:nvSpPr>
        <p:spPr>
          <a:xfrm>
            <a:off x="3123476" y="3265338"/>
            <a:ext cx="586409" cy="41247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7D68C64A-FB00-4E04-AF20-DF3CE459622A}"/>
              </a:ext>
            </a:extLst>
          </p:cNvPr>
          <p:cNvSpPr/>
          <p:nvPr/>
        </p:nvSpPr>
        <p:spPr>
          <a:xfrm>
            <a:off x="8286749" y="3471575"/>
            <a:ext cx="688286" cy="1204723"/>
          </a:xfrm>
          <a:prstGeom prst="curved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41A4F31-7BB7-4E4C-BD5D-EE1530E72BFC}"/>
              </a:ext>
            </a:extLst>
          </p:cNvPr>
          <p:cNvSpPr/>
          <p:nvPr/>
        </p:nvSpPr>
        <p:spPr>
          <a:xfrm>
            <a:off x="5764260" y="3255108"/>
            <a:ext cx="586409" cy="412474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1CEAA11D-4CC6-44A6-AAFA-984ADC0F90C3}"/>
              </a:ext>
            </a:extLst>
          </p:cNvPr>
          <p:cNvSpPr/>
          <p:nvPr/>
        </p:nvSpPr>
        <p:spPr>
          <a:xfrm>
            <a:off x="5764259" y="4501650"/>
            <a:ext cx="586409" cy="412474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D1F26B8C-780D-4E79-BAED-4FC26A7C4349}"/>
              </a:ext>
            </a:extLst>
          </p:cNvPr>
          <p:cNvSpPr/>
          <p:nvPr/>
        </p:nvSpPr>
        <p:spPr>
          <a:xfrm>
            <a:off x="3123476" y="4446509"/>
            <a:ext cx="586409" cy="412474"/>
          </a:xfrm>
          <a:prstGeom prst="lef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9E0E50-28C1-4C8C-893E-EBE8C00A6F18}"/>
              </a:ext>
            </a:extLst>
          </p:cNvPr>
          <p:cNvSpPr txBox="1"/>
          <p:nvPr/>
        </p:nvSpPr>
        <p:spPr>
          <a:xfrm>
            <a:off x="1234393" y="5518035"/>
            <a:ext cx="76469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diagram illustrates the end-to-end flow-based intrusion detection pipeline, starting from raw network traffic, followed by feature extraction and preprocessing, and concluding with machine learning-based classification of benign and DDoS traffic.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286" y="181197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Practical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3503" y="2120278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Flow-level features.</a:t>
            </a:r>
          </a:p>
          <a:p>
            <a:r>
              <a:rPr sz="3200" dirty="0"/>
              <a:t>Offline / near-real-time detection.</a:t>
            </a:r>
          </a:p>
          <a:p>
            <a:r>
              <a:rPr sz="3200" dirty="0"/>
              <a:t>Requires real-world validation.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7539" y="327514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5025" y="2226297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ML effectively detects DDoS attacks.</a:t>
            </a:r>
          </a:p>
          <a:p>
            <a:r>
              <a:rPr sz="3200" dirty="0"/>
              <a:t>Random Forest performs best.</a:t>
            </a:r>
          </a:p>
          <a:p>
            <a:r>
              <a:rPr sz="3200" dirty="0"/>
              <a:t>Project meets industry expectations.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6747" y="399857"/>
            <a:ext cx="7429499" cy="1478570"/>
          </a:xfrm>
        </p:spPr>
        <p:txBody>
          <a:bodyPr>
            <a:normAutofit/>
          </a:bodyPr>
          <a:lstStyle/>
          <a:p>
            <a:r>
              <a:rPr sz="4400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3138" y="2160035"/>
            <a:ext cx="7429499" cy="3541714"/>
          </a:xfrm>
        </p:spPr>
        <p:txBody>
          <a:bodyPr>
            <a:normAutofit/>
          </a:bodyPr>
          <a:lstStyle/>
          <a:p>
            <a:r>
              <a:rPr sz="3200" dirty="0"/>
              <a:t>Real-time packet-level detection.</a:t>
            </a:r>
          </a:p>
          <a:p>
            <a:r>
              <a:rPr sz="3200" dirty="0"/>
              <a:t>Cross-dataset validation.</a:t>
            </a:r>
          </a:p>
          <a:p>
            <a:r>
              <a:rPr sz="3200" dirty="0"/>
              <a:t>Model deployment &amp; monitoring.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48" y="2258474"/>
            <a:ext cx="7429499" cy="1478570"/>
          </a:xfrm>
        </p:spPr>
        <p:txBody>
          <a:bodyPr>
            <a:normAutofit/>
          </a:bodyPr>
          <a:lstStyle/>
          <a:p>
            <a:r>
              <a:rPr sz="7200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Override1.xml><?xml version="1.0" encoding="utf-8"?>
<a:themeOverride xmlns:a="http://schemas.openxmlformats.org/drawingml/2006/main">
  <a:clrScheme name="Circuit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ppt/theme/themeOverride2.xml><?xml version="1.0" encoding="utf-8"?>
<a:themeOverride xmlns:a="http://schemas.openxmlformats.org/drawingml/2006/main">
  <a:clrScheme name="Circuit">
    <a:dk1>
      <a:sysClr val="windowText" lastClr="000000"/>
    </a:dk1>
    <a:lt1>
      <a:sysClr val="window" lastClr="FFFFFF"/>
    </a:lt1>
    <a:dk2>
      <a:srgbClr val="134770"/>
    </a:dk2>
    <a:lt2>
      <a:srgbClr val="82FFFF"/>
    </a:lt2>
    <a:accent1>
      <a:srgbClr val="9ACD4C"/>
    </a:accent1>
    <a:accent2>
      <a:srgbClr val="FAA93A"/>
    </a:accent2>
    <a:accent3>
      <a:srgbClr val="D35940"/>
    </a:accent3>
    <a:accent4>
      <a:srgbClr val="B258D3"/>
    </a:accent4>
    <a:accent5>
      <a:srgbClr val="63A0CC"/>
    </a:accent5>
    <a:accent6>
      <a:srgbClr val="8AC4A7"/>
    </a:accent6>
    <a:hlink>
      <a:srgbClr val="B8FA56"/>
    </a:hlink>
    <a:folHlink>
      <a:srgbClr val="7AF8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5806</TotalTime>
  <Words>438</Words>
  <Application>Microsoft Office PowerPoint</Application>
  <PresentationFormat>On-screen Show (4:3)</PresentationFormat>
  <Paragraphs>104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Trebuchet MS</vt:lpstr>
      <vt:lpstr>Tw Cen MT</vt:lpstr>
      <vt:lpstr>Circuit</vt:lpstr>
      <vt:lpstr>Flow-Based DDoS Detection Using Machine Learning</vt:lpstr>
      <vt:lpstr>Problem Statement</vt:lpstr>
      <vt:lpstr>Project Objectives</vt:lpstr>
      <vt:lpstr>Dataset Overview</vt:lpstr>
      <vt:lpstr>Data Challenges</vt:lpstr>
      <vt:lpstr>Data Preprocessing</vt:lpstr>
      <vt:lpstr>Exploratory Data Analysis</vt:lpstr>
      <vt:lpstr>Feature Selection</vt:lpstr>
      <vt:lpstr>Selected Features</vt:lpstr>
      <vt:lpstr>Modeling Approach</vt:lpstr>
      <vt:lpstr>Model Evaluation Metrics</vt:lpstr>
      <vt:lpstr>Logistic Regression Results</vt:lpstr>
      <vt:lpstr>Random Forest Results</vt:lpstr>
      <vt:lpstr>SVM Results</vt:lpstr>
      <vt:lpstr>Cross-Validation</vt:lpstr>
      <vt:lpstr>Leakage &amp; Overfitting Checks</vt:lpstr>
      <vt:lpstr>ROC &amp; PR Curve Analysis</vt:lpstr>
      <vt:lpstr>System Architecture Diagram</vt:lpstr>
      <vt:lpstr>Practical Limitations</vt:lpstr>
      <vt:lpstr>Conclusion</vt:lpstr>
      <vt:lpstr>Future Scope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Flow-Based DDoS Detection Using Machine Learning</dc:title>
  <dc:subject/>
  <dc:creator/>
  <cp:keywords/>
  <dc:description>generated using python-pptx</dc:description>
  <cp:lastModifiedBy>GAME CHANGER</cp:lastModifiedBy>
  <cp:revision>7</cp:revision>
  <dcterms:created xsi:type="dcterms:W3CDTF">2013-01-27T09:14:16Z</dcterms:created>
  <dcterms:modified xsi:type="dcterms:W3CDTF">2025-12-25T10:02:19Z</dcterms:modified>
  <cp:category/>
</cp:coreProperties>
</file>